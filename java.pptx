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D2B4-A2A0-2FC2-CEC5-042F9FCF6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BB9DC-662B-EC50-23CA-C8EDB1F3E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1863B-AF92-AFF7-8D1B-64A9F72A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8A527-FFBD-E7E9-179A-F62F0261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E78D9-D8BD-9F6C-5E00-B2EFA2AEC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47639" cy="707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6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76" y="1078992"/>
            <a:ext cx="10058400" cy="548640"/>
          </a:xfrm>
        </p:spPr>
        <p:txBody>
          <a:bodyPr wrap="square" tIns="38100" bIns="3810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0F5FF"/>
                </a:solidFill>
                <a:latin typeface="Aptos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19088"/>
            <a:ext cx="182880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0F5FF"/>
                </a:solidFill>
                <a:latin typeface="Aptos"/>
              </a:rPr>
              <a:t>16/10/2026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419088"/>
            <a:ext cx="36576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10287000" cy="4526280"/>
          </a:xfrm>
          <a:prstGeom prst="rect">
            <a:avLst/>
          </a:prstGeom>
          <a:noFill/>
        </p:spPr>
        <p:txBody>
          <a:bodyPr wrap="square" lIns="109728" tIns="38100" rIns="109728" bIns="381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700">
                <a:solidFill>
                  <a:srgbClr val="EBF1FA"/>
                </a:solidFill>
                <a:latin typeface="Aptos"/>
              </a:rPr>
              <a:t>Airport Flight Scheduler is a console-based Java application for maintaining a simple departures board.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700">
                <a:solidFill>
                  <a:srgbClr val="EBF1FA"/>
                </a:solidFill>
                <a:latin typeface="Aptos"/>
              </a:rPr>
              <a:t>It registers flights with a flight number, airline, origin, destination and scheduled time.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700">
                <a:solidFill>
                  <a:srgbClr val="EBF1FA"/>
                </a:solidFill>
                <a:latin typeface="Aptos"/>
              </a:rPr>
              <a:t>The user can assign one of five gates (A1–A5), record delays and update flight status.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700">
                <a:solidFill>
                  <a:srgbClr val="EBF1FA"/>
                </a:solidFill>
                <a:latin typeface="Aptos"/>
              </a:rPr>
              <a:t>The departures board can be searched by flight number, destination or airline, and sorted by time, gate or status.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700">
                <a:solidFill>
                  <a:srgbClr val="EBF1FA"/>
                </a:solidFill>
                <a:latin typeface="Aptos"/>
              </a:rPr>
              <a:t>A report summarises total flights, delayed flights, gate usage, on-time performance and gate utilisation.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700">
                <a:solidFill>
                  <a:srgbClr val="EBF1FA"/>
                </a:solidFill>
                <a:latin typeface="Aptos"/>
              </a:rPr>
              <a:t>Flight records are saved to and loaded from the local text file flights.txt.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75233"/>
            <a:ext cx="10058400" cy="548640"/>
          </a:xfrm>
        </p:spPr>
        <p:txBody>
          <a:bodyPr wrap="square" tIns="38100" bIns="3810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dirty="0">
                <a:solidFill>
                  <a:srgbClr val="F0F5FF"/>
                </a:solidFill>
                <a:latin typeface="Aptos"/>
              </a:rPr>
              <a:t>UNDERSTANDING THE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708" y="1783754"/>
            <a:ext cx="10366248" cy="385742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19088"/>
            <a:ext cx="182880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0F5FF"/>
                </a:solidFill>
                <a:latin typeface="Aptos"/>
              </a:rPr>
              <a:t>16/10/2026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419088"/>
            <a:ext cx="36576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5100" y="1897036"/>
            <a:ext cx="2417704" cy="404751"/>
          </a:xfrm>
          <a:prstGeom prst="roundRect">
            <a:avLst>
              <a:gd name="adj" fmla="val 50000"/>
            </a:avLst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37D2E1"/>
                </a:solidFill>
                <a:latin typeface="Aptos Display"/>
              </a:defRPr>
            </a:pPr>
            <a:r>
              <a:rPr sz="1600" b="0" dirty="0">
                <a:solidFill>
                  <a:srgbClr val="F0F5FF"/>
                </a:solidFill>
                <a:latin typeface="Aptos"/>
              </a:rP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100" y="2281084"/>
            <a:ext cx="9966960" cy="658368"/>
          </a:xfrm>
          <a:prstGeom prst="rect">
            <a:avLst/>
          </a:prstGeom>
          <a:noFill/>
        </p:spPr>
        <p:txBody>
          <a:bodyPr wrap="square" lIns="109728" tIns="38100" rIns="109728" bIns="381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700" b="0" dirty="0">
                <a:solidFill>
                  <a:srgbClr val="EBF1FA"/>
                </a:solidFill>
                <a:latin typeface="Aptos"/>
              </a:rPr>
              <a:t>Flight details, gate assignments and status changes need a consistent way to be recorded and reviewed. Manual tracking can make it harder to locate a flight or notice gate conflicts.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52" y="2955962"/>
            <a:ext cx="2347452" cy="384048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37D2E1"/>
                </a:solidFill>
                <a:latin typeface="Aptos Display"/>
              </a:defRPr>
            </a:pPr>
            <a:r>
              <a:rPr sz="1600" b="0" dirty="0">
                <a:solidFill>
                  <a:srgbClr val="F0F5FF"/>
                </a:solidFill>
                <a:latin typeface="Aptos"/>
              </a:rPr>
              <a:t>PROPOSED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52" y="3396651"/>
            <a:ext cx="9966960" cy="658368"/>
          </a:xfrm>
          <a:prstGeom prst="rect">
            <a:avLst/>
          </a:prstGeom>
          <a:noFill/>
        </p:spPr>
        <p:txBody>
          <a:bodyPr wrap="square" lIns="27432" tIns="38100" rIns="27432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dirty="0">
                <a:solidFill>
                  <a:srgbClr val="F0F5FF"/>
                </a:solidFill>
                <a:latin typeface="Aptos"/>
              </a:rPr>
              <a:t>The application provides a numbered menu to register, assign, delay, update, display, search and sort flights, then generate a basic operational report.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52" y="4055019"/>
            <a:ext cx="2514600" cy="384048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37D2E1"/>
                </a:solidFill>
                <a:latin typeface="Aptos Display"/>
              </a:defRPr>
            </a:pPr>
            <a:r>
              <a:rPr sz="1600" b="0">
                <a:solidFill>
                  <a:srgbClr val="F0F5FF"/>
                </a:solidFill>
                <a:latin typeface="Aptos"/>
              </a:rPr>
              <a:t>PROJECT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52" y="4538978"/>
            <a:ext cx="9966960" cy="658368"/>
          </a:xfrm>
          <a:prstGeom prst="rect">
            <a:avLst/>
          </a:prstGeom>
          <a:noFill/>
        </p:spPr>
        <p:txBody>
          <a:bodyPr wrap="square" lIns="27432" tIns="38100" rIns="27432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dirty="0">
                <a:solidFill>
                  <a:srgbClr val="F0F5FF"/>
                </a:solidFill>
                <a:latin typeface="Aptos"/>
              </a:rPr>
              <a:t>Validate key inputs, prevent assigning an occupied gate, enforce allowed status transitions, and preserve flight records between runs using flights.txt.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19088"/>
            <a:ext cx="182880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0F5FF"/>
                </a:solidFill>
                <a:latin typeface="Aptos"/>
              </a:rPr>
              <a:t>16/10/2026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419088"/>
            <a:ext cx="36576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486400" cy="4343400"/>
          </a:xfrm>
          <a:prstGeom prst="rect">
            <a:avLst/>
          </a:prstGeom>
          <a:noFill/>
        </p:spPr>
        <p:txBody>
          <a:bodyPr wrap="square" lIns="109728" tIns="38100" rIns="109728" bIns="381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Java entry point: public static void main(String[] args) starts the application.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Imports java.io.* and java.util.* provide file, scanner, collection and utility classes.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Primitive types: int for flight numbers, menu choices and counters; double for percentages; boolean for search results.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Reference types: String for airline, route, time, gate and status; Flight and Gate objects hold related data.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Console input uses Scanner; System.out.println, print and printf display menus, tables and formatted percentages.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Numeric conversion is shown when calculating report percentages with an explicit double cast.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25880" y="411479"/>
            <a:ext cx="10241280" cy="335153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dirty="0">
                <a:solidFill>
                  <a:srgbClr val="F0F5FF"/>
                </a:solidFill>
                <a:latin typeface="Aptos"/>
              </a:rPr>
              <a:t>CO 1 — JAVA FOUNDATIONS &amp; PROBLEM SOLVING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76" y="1366837"/>
            <a:ext cx="10058400" cy="475488"/>
          </a:xfrm>
          <a:prstGeom prst="rect">
            <a:avLst/>
          </a:prstGeom>
          <a:noFill/>
        </p:spPr>
        <p:txBody>
          <a:bodyPr wrap="none" tIns="38100" bIns="381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0F5FF"/>
                </a:solidFill>
                <a:latin typeface="Aptos"/>
              </a:rPr>
              <a:t>JAVA FOUNDATIONS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166360" cy="4251960"/>
          </a:xfrm>
          <a:prstGeom prst="roundRect">
            <a:avLst/>
          </a:prstGeom>
          <a:solidFill>
            <a:srgbClr val="101C2F"/>
          </a:solidFill>
          <a:ln w="19050">
            <a:solidFill>
              <a:srgbClr val="0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46304" bIns="9144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3EDCDC"/>
                </a:solidFill>
                <a:latin typeface="Aptos"/>
              </a:defRPr>
            </a:pPr>
            <a:r>
              <a:t>JAVA SYNTAX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import java.util.*;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public static void main(String[] args)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Scanner sc = new Scanner(System.in);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int choice;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do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showMenu();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choice = sc.nextInt();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// handle selected option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} while (choice != 9);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825625"/>
            <a:ext cx="10622280" cy="2998628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19088"/>
            <a:ext cx="182880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0F5FF"/>
                </a:solidFill>
                <a:latin typeface="Aptos"/>
              </a:rPr>
              <a:t>16/10/2026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419088"/>
            <a:ext cx="36576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486400" cy="4343400"/>
          </a:xfrm>
          <a:prstGeom prst="rect">
            <a:avLst/>
          </a:prstGeom>
          <a:noFill/>
        </p:spPr>
        <p:txBody>
          <a:bodyPr wrap="square" lIns="109728" tIns="38100" rIns="109728" bIns="381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>
                <a:solidFill>
                  <a:srgbClr val="EBF1FA"/>
                </a:solidFill>
                <a:latin typeface="Aptos"/>
              </a:rPr>
              <a:t>A while loop keeps the menu running until the user selects option 9 (Save and Exit).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>
                <a:solidFill>
                  <a:srgbClr val="EBF1FA"/>
                </a:solidFill>
                <a:latin typeface="Aptos"/>
              </a:rPr>
              <a:t>switch(choice) dispatches menu options 1–9; each case uses break to finish that action.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>
                <a:solidFill>
                  <a:srgbClr val="EBF1FA"/>
                </a:solidFill>
                <a:latin typeface="Aptos"/>
              </a:rPr>
              <a:t>if / else-if decisions validate choices, locate flights, check gate availability and enforce status transitions.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>
                <a:solidFill>
                  <a:srgbClr val="EBF1FA"/>
                </a:solidFill>
                <a:latin typeface="Aptos"/>
              </a:rPr>
              <a:t>Enhanced for loops traverse flights and gates for duplicate checks, display, reports, search and loading.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>
                <a:solidFill>
                  <a:srgbClr val="EBF1FA"/>
                </a:solidFill>
                <a:latin typeface="Aptos"/>
              </a:rPr>
              <a:t>Input validation checks numeric entries, HH:MM time format and positive delay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>
                <a:solidFill>
                  <a:srgbClr val="EBF1FA"/>
                </a:solidFill>
                <a:latin typeface="Aptos"/>
              </a:rPr>
              <a:t>continue retries the menu after non-numeric </a:t>
            </a:r>
            <a:r>
              <a:rPr lang="en-IN" sz="1550" dirty="0">
                <a:solidFill>
                  <a:srgbClr val="EBF1FA"/>
                </a:solidFill>
                <a:latin typeface="Aptos"/>
              </a:rPr>
              <a:t>menu </a:t>
            </a:r>
            <a:r>
              <a:rPr sz="1550" dirty="0">
                <a:solidFill>
                  <a:srgbClr val="EBF1FA"/>
                </a:solidFill>
                <a:latin typeface="Aptos"/>
              </a:rPr>
              <a:t>input; return exits an action when input or lookup is invalid.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25880" y="411480"/>
            <a:ext cx="10241280" cy="292608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0F5FF"/>
                </a:solidFill>
                <a:latin typeface="Aptos"/>
              </a:rPr>
              <a:t>CO 2 — CONTROL FLOW: SELECTION &amp; 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29075"/>
            <a:ext cx="10058400" cy="475488"/>
          </a:xfrm>
          <a:prstGeom prst="rect">
            <a:avLst/>
          </a:prstGeom>
          <a:noFill/>
        </p:spPr>
        <p:txBody>
          <a:bodyPr wrap="none" tIns="38100" bIns="381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dirty="0">
                <a:solidFill>
                  <a:srgbClr val="F0F5FF"/>
                </a:solidFill>
                <a:latin typeface="Aptos"/>
              </a:rPr>
              <a:t>CONTROL FLOW &amp; DECISION-MAKING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166360" cy="4251960"/>
          </a:xfrm>
          <a:prstGeom prst="roundRect">
            <a:avLst/>
          </a:prstGeom>
          <a:solidFill>
            <a:srgbClr val="101C2F"/>
          </a:solidFill>
          <a:ln w="19050">
            <a:solidFill>
              <a:srgbClr val="0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46304" bIns="9144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3EDCDC"/>
                </a:solidFill>
                <a:latin typeface="Aptos"/>
              </a:defRPr>
            </a:pPr>
            <a:r>
              <a:t>CONTROL FLOW SYNTAX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while (choice != 9)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switch (choice)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case 1: registerFlight(); break;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case 2: assignGate();    break;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case 3: delayFlight();   break;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case 9: saveData();      break;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default: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    System.out.println("Invalid choice");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19088"/>
            <a:ext cx="182880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0F5FF"/>
                </a:solidFill>
                <a:latin typeface="Aptos"/>
              </a:rPr>
              <a:t>16/10/2026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419088"/>
            <a:ext cx="36576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486400" cy="4343400"/>
          </a:xfrm>
          <a:prstGeom prst="rect">
            <a:avLst/>
          </a:prstGeom>
          <a:noFill/>
        </p:spPr>
        <p:txBody>
          <a:bodyPr wrap="square" lIns="109728" tIns="38100" rIns="109728" bIns="381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The program is divided into static methods such as registerFlight, assignGate, delayFlight and updateStatus.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displayBoard, searchFlight, sortBoard and report each encapsulate a separate operation.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findFlight(int number) searches the flights collection and returns the matching Flight or null.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Searching traverses flight records and matches the number, destination or airline.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sortBoard uses Comparator.comparing with a lambda to order flights by time, gate or status.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No recursion or method overloading is implemented in the supplied source.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25880" y="411480"/>
            <a:ext cx="9875520" cy="256032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0F5FF"/>
                </a:solidFill>
                <a:latin typeface="Aptos"/>
              </a:rPr>
              <a:t>CO 3 — METHODS, MODULAR PROGRAMMING &amp; DATA TRAVERSAL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251141"/>
            <a:ext cx="10058400" cy="475488"/>
          </a:xfrm>
          <a:prstGeom prst="rect">
            <a:avLst/>
          </a:prstGeom>
          <a:noFill/>
        </p:spPr>
        <p:txBody>
          <a:bodyPr wrap="none" tIns="38100" bIns="381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dirty="0">
                <a:solidFill>
                  <a:srgbClr val="F0F5FF"/>
                </a:solidFill>
                <a:latin typeface="Aptos"/>
              </a:rPr>
              <a:t>METHODS &amp; ALGORITHMS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166360" cy="4251960"/>
          </a:xfrm>
          <a:prstGeom prst="roundRect">
            <a:avLst/>
          </a:prstGeom>
          <a:solidFill>
            <a:srgbClr val="101C2F"/>
          </a:solidFill>
          <a:ln w="19050">
            <a:solidFill>
              <a:srgbClr val="0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46304" bIns="9144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3EDCDC"/>
                </a:solidFill>
                <a:latin typeface="Aptos"/>
              </a:defRPr>
            </a:pPr>
            <a:r>
              <a:t>METHODS &amp; SORTING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static Flight findFlight(int number)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for (Flight f : flights)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if (f.number == number)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    return f;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return null;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flights.sort(Comparator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.comparing(f -&gt; f.time));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411480"/>
            <a:ext cx="9875520" cy="256032"/>
          </a:xfrm>
        </p:spPr>
        <p:txBody>
          <a:bodyPr wrap="square" tIns="38100" bIns="3810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0F5FF"/>
                </a:solidFill>
                <a:latin typeface="Aptos"/>
              </a:rPr>
              <a:t>CO 4 — OBJECT-ORIENTED DESIGN &amp;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19088"/>
            <a:ext cx="182880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0F5FF"/>
                </a:solidFill>
                <a:latin typeface="Aptos"/>
              </a:rPr>
              <a:t>16/10/2026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419088"/>
            <a:ext cx="36576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486400" cy="4343400"/>
          </a:xfrm>
          <a:prstGeom prst="rect">
            <a:avLst/>
          </a:prstGeom>
          <a:noFill/>
        </p:spPr>
        <p:txBody>
          <a:bodyPr wrap="square" lIns="109728" tIns="38100" rIns="109728" bIns="381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Flight and Gate are the two user-defined classes; Main coordinates the application.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Flight(int, String, String, String, String) and Gate(String) initialise new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The this keyword assigns constructor parameters to the current Flight object's fields.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ArrayList&lt;Flight&gt; and ArrayList&lt;Gate&gt; are static members of Main and hold the active records.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try/catch handles InputMismatchException for numeric input and IOException during saving; loadData catches file/data errors.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>
                <a:solidFill>
                  <a:srgbClr val="EBF1FA"/>
                </a:solidFill>
                <a:latin typeface="Aptos"/>
              </a:rPr>
              <a:t>Fields are package-private and no inheritance, interfaces, abstract classes or method overriding appear in this source.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25880" y="411480"/>
            <a:ext cx="9875520" cy="256032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0F5FF"/>
                </a:solidFill>
                <a:latin typeface="Aptos"/>
              </a:rPr>
              <a:t>CO 4  |  MODULE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29075"/>
            <a:ext cx="10058400" cy="475488"/>
          </a:xfrm>
          <a:prstGeom prst="rect">
            <a:avLst/>
          </a:prstGeom>
          <a:noFill/>
        </p:spPr>
        <p:txBody>
          <a:bodyPr wrap="none" tIns="38100" bIns="381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dirty="0">
                <a:solidFill>
                  <a:srgbClr val="F0F5FF"/>
                </a:solidFill>
                <a:latin typeface="Aptos"/>
              </a:rPr>
              <a:t>OBJECT-ORIENTED PROGRAMMING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166360" cy="4251960"/>
          </a:xfrm>
          <a:prstGeom prst="roundRect">
            <a:avLst/>
          </a:prstGeom>
          <a:solidFill>
            <a:srgbClr val="101C2F"/>
          </a:solidFill>
          <a:ln w="19050">
            <a:solidFill>
              <a:srgbClr val="0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46304" bIns="9144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3EDCDC"/>
                </a:solidFill>
                <a:latin typeface="Aptos"/>
              </a:defRPr>
            </a:pPr>
            <a:r>
              <a:t>CLASS &amp; OBJECT SYNTAX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class Flight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int number;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String airline, origin, destination;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String time, gate, status;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Flight(int number, String airline,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       String origin, String destination,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       String time)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    this.number = number;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    this.airline = airline;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    this.origin = origin;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    this.destination = destination;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    this.time = time;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411480"/>
            <a:ext cx="9875520" cy="256032"/>
          </a:xfrm>
        </p:spPr>
        <p:txBody>
          <a:bodyPr wrap="square" tIns="38100" bIns="3810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0F5FF"/>
                </a:solidFill>
                <a:latin typeface="Aptos"/>
              </a:rPr>
              <a:t>CO 5 — STRINGS, SEARCHING &amp; FILE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19088"/>
            <a:ext cx="182880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0F5FF"/>
                </a:solidFill>
                <a:latin typeface="Aptos"/>
              </a:rPr>
              <a:t>16/10/2026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419088"/>
            <a:ext cx="36576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486400" cy="4343400"/>
          </a:xfrm>
          <a:prstGeom prst="rect">
            <a:avLst/>
          </a:prstGeom>
          <a:noFill/>
        </p:spPr>
        <p:txBody>
          <a:bodyPr wrap="square" lIns="109728" tIns="38100" rIns="109728" bIns="381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550">
                <a:solidFill>
                  <a:srgbClr val="EBF1FA"/>
                </a:solidFill>
                <a:latin typeface="Aptos"/>
              </a:defRPr>
            </a:pPr>
            <a:r>
              <a:rPr sz="1500" dirty="0">
                <a:solidFill>
                  <a:srgbClr val="EBF1FA"/>
                </a:solidFill>
                <a:latin typeface="Aptos"/>
              </a:rPr>
              <a:t>String methods include matches for HH:MM validation, equals / </a:t>
            </a:r>
            <a:r>
              <a:rPr sz="1500" dirty="0" err="1">
                <a:solidFill>
                  <a:srgbClr val="EBF1FA"/>
                </a:solidFill>
                <a:latin typeface="Aptos"/>
              </a:rPr>
              <a:t>equalsIgnoreCase</a:t>
            </a:r>
            <a:r>
              <a:rPr sz="1500" dirty="0">
                <a:solidFill>
                  <a:srgbClr val="EBF1FA"/>
                </a:solidFill>
                <a:latin typeface="Aptos"/>
              </a:rPr>
              <a:t> for status and gate comparisons.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550">
                <a:solidFill>
                  <a:srgbClr val="EBF1FA"/>
                </a:solidFill>
                <a:latin typeface="Aptos"/>
              </a:defRPr>
            </a:pPr>
            <a:r>
              <a:rPr sz="1500" dirty="0" err="1">
                <a:solidFill>
                  <a:srgbClr val="EBF1FA"/>
                </a:solidFill>
                <a:latin typeface="Aptos"/>
              </a:rPr>
              <a:t>toLowerCase</a:t>
            </a:r>
            <a:r>
              <a:rPr sz="1500" dirty="0">
                <a:solidFill>
                  <a:srgbClr val="EBF1FA"/>
                </a:solidFill>
                <a:latin typeface="Aptos"/>
              </a:rPr>
              <a:t> and contains support case-insensitive flight searches; </a:t>
            </a:r>
            <a:r>
              <a:rPr sz="1500" dirty="0" err="1">
                <a:solidFill>
                  <a:srgbClr val="EBF1FA"/>
                </a:solidFill>
                <a:latin typeface="Aptos"/>
              </a:rPr>
              <a:t>String.valueOf</a:t>
            </a:r>
            <a:r>
              <a:rPr sz="1500" dirty="0">
                <a:solidFill>
                  <a:srgbClr val="EBF1FA"/>
                </a:solidFill>
                <a:latin typeface="Aptos"/>
              </a:rPr>
              <a:t> converts a flight number for matching.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550">
                <a:solidFill>
                  <a:srgbClr val="EBF1FA"/>
                </a:solidFill>
                <a:latin typeface="Aptos"/>
              </a:defRPr>
            </a:pPr>
            <a:r>
              <a:rPr sz="1500" dirty="0" err="1">
                <a:solidFill>
                  <a:srgbClr val="EBF1FA"/>
                </a:solidFill>
                <a:latin typeface="Aptos"/>
              </a:rPr>
              <a:t>saveData</a:t>
            </a:r>
            <a:r>
              <a:rPr sz="1500" dirty="0">
                <a:solidFill>
                  <a:srgbClr val="EBF1FA"/>
                </a:solidFill>
                <a:latin typeface="Aptos"/>
              </a:rPr>
              <a:t> writes comma-separated flight fields to flights.txt using </a:t>
            </a:r>
            <a:r>
              <a:rPr sz="1500" dirty="0" err="1">
                <a:solidFill>
                  <a:srgbClr val="EBF1FA"/>
                </a:solidFill>
                <a:latin typeface="Aptos"/>
              </a:rPr>
              <a:t>FileWriter</a:t>
            </a:r>
            <a:r>
              <a:rPr sz="1500" dirty="0">
                <a:solidFill>
                  <a:srgbClr val="EBF1FA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550">
                <a:solidFill>
                  <a:srgbClr val="EBF1FA"/>
                </a:solidFill>
                <a:latin typeface="Aptos"/>
              </a:defRPr>
            </a:pPr>
            <a:r>
              <a:rPr sz="1500" dirty="0" err="1">
                <a:solidFill>
                  <a:srgbClr val="EBF1FA"/>
                </a:solidFill>
                <a:latin typeface="Aptos"/>
              </a:rPr>
              <a:t>loadData</a:t>
            </a:r>
            <a:r>
              <a:rPr sz="1500" dirty="0">
                <a:solidFill>
                  <a:srgbClr val="EBF1FA"/>
                </a:solidFill>
                <a:latin typeface="Aptos"/>
              </a:rPr>
              <a:t> checks for the file, reads lines with Scanner, and splits each line using </a:t>
            </a:r>
            <a:r>
              <a:rPr sz="1500" dirty="0" err="1">
                <a:solidFill>
                  <a:srgbClr val="EBF1FA"/>
                </a:solidFill>
                <a:latin typeface="Aptos"/>
              </a:rPr>
              <a:t>line.split</a:t>
            </a:r>
            <a:r>
              <a:rPr sz="1500" dirty="0">
                <a:solidFill>
                  <a:srgbClr val="EBF1FA"/>
                </a:solidFill>
                <a:latin typeface="Aptos"/>
              </a:rPr>
              <a:t>(",").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550">
                <a:solidFill>
                  <a:srgbClr val="EBF1FA"/>
                </a:solidFill>
                <a:latin typeface="Aptos"/>
              </a:defRPr>
            </a:pPr>
            <a:r>
              <a:rPr sz="1500" dirty="0" err="1">
                <a:solidFill>
                  <a:srgbClr val="EBF1FA"/>
                </a:solidFill>
                <a:latin typeface="Aptos"/>
              </a:rPr>
              <a:t>Integer.parseInt</a:t>
            </a:r>
            <a:r>
              <a:rPr sz="1500" dirty="0">
                <a:solidFill>
                  <a:srgbClr val="EBF1FA"/>
                </a:solidFill>
                <a:latin typeface="Aptos"/>
              </a:rPr>
              <a:t> reconstructs the flight number; saved gate and status values are restored to each Flight.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550">
                <a:solidFill>
                  <a:srgbClr val="EBF1FA"/>
                </a:solidFill>
                <a:latin typeface="Aptos"/>
              </a:defRPr>
            </a:pPr>
            <a:r>
              <a:rPr sz="1500" dirty="0">
                <a:solidFill>
                  <a:srgbClr val="EBF1FA"/>
                </a:solidFill>
                <a:latin typeface="Aptos"/>
              </a:rPr>
              <a:t>File operations include </a:t>
            </a:r>
            <a:r>
              <a:rPr sz="1500" dirty="0" err="1">
                <a:solidFill>
                  <a:srgbClr val="EBF1FA"/>
                </a:solidFill>
                <a:latin typeface="Aptos"/>
              </a:rPr>
              <a:t>IOException</a:t>
            </a:r>
            <a:r>
              <a:rPr sz="1500" dirty="0">
                <a:solidFill>
                  <a:srgbClr val="EBF1FA"/>
                </a:solidFill>
                <a:latin typeface="Aptos"/>
              </a:rPr>
              <a:t> handling while loading also catches Exception; the code closes its writer and scanner explicitly.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25880" y="411480"/>
            <a:ext cx="9875520" cy="256032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0F5FF"/>
                </a:solidFill>
                <a:latin typeface="Aptos"/>
              </a:rPr>
              <a:t>CO 5  |  MODULE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229075"/>
            <a:ext cx="10058400" cy="475488"/>
          </a:xfrm>
          <a:prstGeom prst="rect">
            <a:avLst/>
          </a:prstGeom>
          <a:noFill/>
        </p:spPr>
        <p:txBody>
          <a:bodyPr wrap="none" tIns="38100" bIns="381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dirty="0">
                <a:solidFill>
                  <a:srgbClr val="F0F5FF"/>
                </a:solidFill>
                <a:latin typeface="Aptos"/>
              </a:rPr>
              <a:t>STRINGS &amp; FILE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166360" cy="4251960"/>
          </a:xfrm>
          <a:prstGeom prst="roundRect">
            <a:avLst/>
          </a:prstGeom>
          <a:solidFill>
            <a:srgbClr val="101C2F"/>
          </a:solidFill>
          <a:ln w="19050">
            <a:solidFill>
              <a:srgbClr val="0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46304" bIns="9144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3EDCDC"/>
                </a:solidFill>
                <a:latin typeface="Aptos"/>
              </a:defRPr>
            </a:pPr>
            <a:r>
              <a:t>STRING &amp; FILE SYNTAX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if (time.matches("\\d{2}:\\d{2}"))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// valid HH:MM format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String query = input.toLowerCase();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if (flight.destination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    .toLowerCase().contains(query))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System.out.println(flight);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try (FileWriter fw =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    new FileWriter("flights.txt"))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fw.write(data);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} catch (IOException e)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    e.printStackTrace();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E4EEFA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411480"/>
            <a:ext cx="9875520" cy="256032"/>
          </a:xfrm>
        </p:spPr>
        <p:txBody>
          <a:bodyPr wrap="square" tIns="38100" bIns="3810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0F5FF"/>
                </a:solidFill>
                <a:latin typeface="Aptos"/>
              </a:rPr>
              <a:t>CO 6 — COLLECTIONS, GENERICS &amp; FUNCTIONAL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19088"/>
            <a:ext cx="182880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0F5FF"/>
                </a:solidFill>
                <a:latin typeface="Aptos"/>
              </a:rPr>
              <a:t>16/10/2026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419088"/>
            <a:ext cx="36576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486400" cy="4343400"/>
          </a:xfrm>
          <a:prstGeom prst="rect">
            <a:avLst/>
          </a:prstGeom>
          <a:noFill/>
        </p:spPr>
        <p:txBody>
          <a:bodyPr wrap="square" lIns="109728" tIns="38100" rIns="109728" bIns="381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 err="1">
                <a:solidFill>
                  <a:srgbClr val="EBF1FA"/>
                </a:solidFill>
                <a:latin typeface="Aptos"/>
              </a:rPr>
              <a:t>ArrayList</a:t>
            </a:r>
            <a:r>
              <a:rPr sz="1550" dirty="0">
                <a:solidFill>
                  <a:srgbClr val="EBF1FA"/>
                </a:solidFill>
                <a:latin typeface="Aptos"/>
              </a:rPr>
              <a:t>&lt;Flight&gt; and </a:t>
            </a:r>
            <a:r>
              <a:rPr sz="1550" dirty="0" err="1">
                <a:solidFill>
                  <a:srgbClr val="EBF1FA"/>
                </a:solidFill>
                <a:latin typeface="Aptos"/>
              </a:rPr>
              <a:t>ArrayList</a:t>
            </a:r>
            <a:r>
              <a:rPr sz="1550" dirty="0">
                <a:solidFill>
                  <a:srgbClr val="EBF1FA"/>
                </a:solidFill>
                <a:latin typeface="Aptos"/>
              </a:rPr>
              <a:t>&lt;Gate&gt; demonstrate generic collections for storing project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>
                <a:solidFill>
                  <a:srgbClr val="EBF1FA"/>
                </a:solidFill>
                <a:latin typeface="Aptos"/>
              </a:rPr>
              <a:t>Collection operations include add, size and </a:t>
            </a:r>
            <a:r>
              <a:rPr sz="1550" dirty="0" err="1">
                <a:solidFill>
                  <a:srgbClr val="EBF1FA"/>
                </a:solidFill>
                <a:latin typeface="Aptos"/>
              </a:rPr>
              <a:t>flights.sort</a:t>
            </a:r>
            <a:r>
              <a:rPr sz="1550" dirty="0">
                <a:solidFill>
                  <a:srgbClr val="EBF1FA"/>
                </a:solidFill>
                <a:latin typeface="Aptos"/>
              </a:rPr>
              <a:t>; enhanced for loops traverse records.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 err="1">
                <a:solidFill>
                  <a:srgbClr val="EBF1FA"/>
                </a:solidFill>
                <a:latin typeface="Aptos"/>
              </a:rPr>
              <a:t>Comparator.comparing</a:t>
            </a:r>
            <a:r>
              <a:rPr sz="1550" dirty="0">
                <a:solidFill>
                  <a:srgbClr val="EBF1FA"/>
                </a:solidFill>
                <a:latin typeface="Aptos"/>
              </a:rPr>
              <a:t>(f -&gt; </a:t>
            </a:r>
            <a:r>
              <a:rPr sz="1550" dirty="0" err="1">
                <a:solidFill>
                  <a:srgbClr val="EBF1FA"/>
                </a:solidFill>
                <a:latin typeface="Aptos"/>
              </a:rPr>
              <a:t>f.time</a:t>
            </a:r>
            <a:r>
              <a:rPr sz="1550" dirty="0">
                <a:solidFill>
                  <a:srgbClr val="EBF1FA"/>
                </a:solidFill>
                <a:latin typeface="Aptos"/>
              </a:rPr>
              <a:t> / </a:t>
            </a:r>
            <a:r>
              <a:rPr sz="1550" dirty="0" err="1">
                <a:solidFill>
                  <a:srgbClr val="EBF1FA"/>
                </a:solidFill>
                <a:latin typeface="Aptos"/>
              </a:rPr>
              <a:t>f.gate</a:t>
            </a:r>
            <a:r>
              <a:rPr sz="1550" dirty="0">
                <a:solidFill>
                  <a:srgbClr val="EBF1FA"/>
                </a:solidFill>
                <a:latin typeface="Aptos"/>
              </a:rPr>
              <a:t> / </a:t>
            </a:r>
            <a:r>
              <a:rPr sz="1550" dirty="0" err="1">
                <a:solidFill>
                  <a:srgbClr val="EBF1FA"/>
                </a:solidFill>
                <a:latin typeface="Aptos"/>
              </a:rPr>
              <a:t>f.status</a:t>
            </a:r>
            <a:r>
              <a:rPr sz="1550" dirty="0">
                <a:solidFill>
                  <a:srgbClr val="EBF1FA"/>
                </a:solidFill>
                <a:latin typeface="Aptos"/>
              </a:rPr>
              <a:t>) uses lambda expressions to select sort keys.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>
                <a:solidFill>
                  <a:srgbClr val="EBF1FA"/>
                </a:solidFill>
                <a:latin typeface="Aptos"/>
              </a:rPr>
              <a:t>The report counts delayed flights and occupied gates, then computes percentage metrics from the counts.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550" dirty="0">
                <a:solidFill>
                  <a:srgbClr val="EBF1FA"/>
                </a:solidFill>
                <a:latin typeface="Aptos"/>
              </a:rPr>
              <a:t>No Set, Map, explicit generic method, method reference or Stream pipeline is used in the supplied source.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25880" y="411480"/>
            <a:ext cx="9875520" cy="256032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0F5FF"/>
                </a:solidFill>
                <a:latin typeface="Aptos"/>
              </a:rPr>
              <a:t>CO 6  |  MODULE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76" y="1350137"/>
            <a:ext cx="10058400" cy="475488"/>
          </a:xfrm>
          <a:prstGeom prst="rect">
            <a:avLst/>
          </a:prstGeom>
          <a:noFill/>
        </p:spPr>
        <p:txBody>
          <a:bodyPr wrap="none" tIns="38100" bIns="381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dirty="0">
                <a:solidFill>
                  <a:srgbClr val="F0F5FF"/>
                </a:solidFill>
                <a:latin typeface="Aptos"/>
              </a:rPr>
              <a:t>COLLECTIONS &amp; FUNCTIONAL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166360" cy="4251960"/>
          </a:xfrm>
          <a:prstGeom prst="roundRect">
            <a:avLst/>
          </a:prstGeom>
          <a:solidFill>
            <a:srgbClr val="101C2F"/>
          </a:solidFill>
          <a:ln w="19050">
            <a:solidFill>
              <a:srgbClr val="0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46304" bIns="9144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3EDCDC"/>
                </a:solidFill>
                <a:latin typeface="Aptos"/>
              </a:defRPr>
            </a:pPr>
            <a:r>
              <a:t>COLLECTIONS SYNTAX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ArrayList&lt;Flight&gt; flights =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new ArrayList&lt;&gt;();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flights.add(newFlight);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for (Flight f : flights) {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if (f.status.equalsIgnoreCase("Delayed"))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    delayedCount++;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double percent =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E4EEFA"/>
                </a:solidFill>
                <a:latin typeface="Consolas"/>
              </a:defRPr>
            </a:pPr>
            <a:r>
              <a:t>    (double) delayedCount / flights.size() * 100;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046" y="827724"/>
            <a:ext cx="10058400" cy="548640"/>
          </a:xfrm>
        </p:spPr>
        <p:txBody>
          <a:bodyPr wrap="square" tIns="38100" bIns="38100" anchor="ctr"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 i="1" u="sng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CONCLUSION</a:t>
            </a:r>
            <a:endParaRPr sz="2400" b="1" i="1" u="sng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19088"/>
            <a:ext cx="182880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F0F5FF"/>
                </a:solidFill>
                <a:latin typeface="Aptos"/>
              </a:rPr>
              <a:t>16/10/2026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419088"/>
            <a:ext cx="365760" cy="228600"/>
          </a:xfrm>
        </p:spPr>
        <p:txBody>
          <a:bodyPr tIns="38100" bIns="3810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728960" cy="3931920"/>
          </a:xfrm>
          <a:prstGeom prst="rect">
            <a:avLst/>
          </a:prstGeom>
          <a:noFill/>
        </p:spPr>
        <p:txBody>
          <a:bodyPr wrap="square" lIns="109728" tIns="38100" rIns="109728" bIns="381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600">
                <a:solidFill>
                  <a:srgbClr val="EBF1FA"/>
                </a:solidFill>
                <a:latin typeface="Aptos"/>
              </a:rPr>
              <a:t>The project demonstrates a menu-driven flight scheduling workflow using core Java.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600">
                <a:solidFill>
                  <a:srgbClr val="EBF1FA"/>
                </a:solidFill>
                <a:latin typeface="Aptos"/>
              </a:rPr>
              <a:t>Flight registration, gate allocation, delay/status updates, searching, sorting and reporting are implemented.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600">
                <a:solidFill>
                  <a:srgbClr val="EBF1FA"/>
                </a:solidFill>
                <a:latin typeface="Aptos"/>
              </a:rPr>
              <a:t>Object-oriented classes, ArrayList collections, input validation, string processing and exception handling are applied.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600">
                <a:solidFill>
                  <a:srgbClr val="EBF1FA"/>
                </a:solidFill>
                <a:latin typeface="Aptos"/>
              </a:rPr>
              <a:t>The flights.txt file provides basic persistence so flight data can be restored on the next run.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1700">
                <a:solidFill>
                  <a:srgbClr val="EBF1FA"/>
                </a:solidFill>
                <a:latin typeface="Aptos"/>
              </a:defRPr>
            </a:pPr>
            <a:r>
              <a:rPr sz="1600">
                <a:solidFill>
                  <a:srgbClr val="EBF1FA"/>
                </a:solidFill>
                <a:latin typeface="Aptos"/>
              </a:rPr>
              <a:t>Future extensions could include stronger file-format validation, richer scheduling rules and a graphical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0" y="457200"/>
            <a:ext cx="10058400" cy="548640"/>
          </a:xfrm>
        </p:spPr>
        <p:txBody>
          <a:bodyPr wrap="square" tIns="38100" bIns="3810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0F5FF"/>
                </a:solidFill>
                <a:latin typeface="Aptos"/>
              </a:rPr>
              <a:t>SCREENSHOTS OF THE RUNNING PROJECT</a:t>
            </a:r>
          </a:p>
        </p:txBody>
      </p:sp>
      <p:pic>
        <p:nvPicPr>
          <p:cNvPr id="3" name="Picture 2" descr="exec_registrat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4983480" cy="2121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648456"/>
            <a:ext cx="4983480" cy="256032"/>
          </a:xfrm>
          <a:prstGeom prst="rect">
            <a:avLst/>
          </a:prstGeom>
          <a:noFill/>
        </p:spPr>
        <p:txBody>
          <a:bodyPr wrap="none" tIns="38100" bIns="381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9BAEC4"/>
                </a:solidFill>
                <a:latin typeface="Aptos"/>
              </a:defRPr>
            </a:pPr>
            <a:r>
              <a:rPr sz="1600" b="0">
                <a:solidFill>
                  <a:srgbClr val="F0F5FF"/>
                </a:solidFill>
                <a:latin typeface="Aptos"/>
              </a:rPr>
              <a:t>Registration and gate assignment</a:t>
            </a:r>
          </a:p>
        </p:txBody>
      </p:sp>
      <p:pic>
        <p:nvPicPr>
          <p:cNvPr id="5" name="Picture 4" descr="exec_board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08760"/>
            <a:ext cx="4983480" cy="212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7648" y="3648456"/>
            <a:ext cx="4983480" cy="256032"/>
          </a:xfrm>
          <a:prstGeom prst="rect">
            <a:avLst/>
          </a:prstGeom>
          <a:noFill/>
        </p:spPr>
        <p:txBody>
          <a:bodyPr wrap="none" tIns="38100" bIns="381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9BAEC4"/>
                </a:solidFill>
                <a:latin typeface="Aptos"/>
              </a:defRPr>
            </a:pPr>
            <a:r>
              <a:rPr sz="1600" b="0">
                <a:solidFill>
                  <a:srgbClr val="F0F5FF"/>
                </a:solidFill>
                <a:latin typeface="Aptos"/>
              </a:rPr>
              <a:t>Departures board and search</a:t>
            </a:r>
          </a:p>
        </p:txBody>
      </p:sp>
      <p:pic>
        <p:nvPicPr>
          <p:cNvPr id="7" name="Picture 6" descr="exec_report_la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3858768"/>
            <a:ext cx="4983480" cy="21214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93592" y="5998463"/>
            <a:ext cx="4983480" cy="256032"/>
          </a:xfrm>
          <a:prstGeom prst="rect">
            <a:avLst/>
          </a:prstGeom>
          <a:noFill/>
        </p:spPr>
        <p:txBody>
          <a:bodyPr wrap="none" tIns="38100" bIns="381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9BAEC4"/>
                </a:solidFill>
                <a:latin typeface="Aptos"/>
              </a:defRPr>
            </a:pPr>
            <a:r>
              <a:rPr sz="1600" b="0">
                <a:solidFill>
                  <a:srgbClr val="F0F5FF"/>
                </a:solidFill>
                <a:latin typeface="Aptos"/>
              </a:rPr>
              <a:t>Report and save/exit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bIns="381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1470</Words>
  <Application>Microsoft Office PowerPoint</Application>
  <PresentationFormat>Widescreen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ABSTRACT</vt:lpstr>
      <vt:lpstr>UNDERSTANDING THE PROBLEM STATEMENT</vt:lpstr>
      <vt:lpstr>PowerPoint Presentation</vt:lpstr>
      <vt:lpstr>PowerPoint Presentation</vt:lpstr>
      <vt:lpstr>PowerPoint Presentation</vt:lpstr>
      <vt:lpstr>CO 4 — OBJECT-ORIENTED DESIGN &amp; EXCEPTION HANDLING</vt:lpstr>
      <vt:lpstr>CO 5 — STRINGS, SEARCHING &amp; FILE I/O</vt:lpstr>
      <vt:lpstr>CO 6 — COLLECTIONS, GENERICS &amp; FUNCTIONAL STYLE</vt:lpstr>
      <vt:lpstr>CONCLUSION</vt:lpstr>
      <vt:lpstr>SCREENSHOTS OF THE RUNNING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Kaushik !</cp:lastModifiedBy>
  <cp:revision>5</cp:revision>
  <dcterms:created xsi:type="dcterms:W3CDTF">2026-09-15T09:57:10Z</dcterms:created>
  <dcterms:modified xsi:type="dcterms:W3CDTF">2026-10-16T09:08:00Z</dcterms:modified>
</cp:coreProperties>
</file>